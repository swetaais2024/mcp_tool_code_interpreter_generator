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0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96F5F-DBE2-B42B-D58B-12841C408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74A8F-8510-A576-2A7B-E292E0638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EF18C-99D3-A832-6554-8A2E97AE3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7E51-4F66-4F1A-BF01-48FAE14ADA34}" type="datetimeFigureOut">
              <a:rPr lang="en-SG" smtClean="0"/>
              <a:t>19/1/2026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3FD4D-9581-907F-8357-5EFA9E546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23DA-EA6F-D03A-64B4-D94258A4B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D6F2-E54C-4C6A-AE86-55FE9D1AE3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44933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7A4BA-889E-8B42-DE3F-C1072EA07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69F49-6BD0-8D85-3DAB-6D6058E13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7E2E3-5DE2-E717-EDBC-D9BA6E535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7E51-4F66-4F1A-BF01-48FAE14ADA34}" type="datetimeFigureOut">
              <a:rPr lang="en-SG" smtClean="0"/>
              <a:t>19/1/2026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8A10B-25FD-A2CA-320F-F1607DF78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84E35-75C9-CDD4-E4AA-F999623FE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D6F2-E54C-4C6A-AE86-55FE9D1AE3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12268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BFF0A-FC5C-AEBF-2D5A-50B38B8E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72451-FAAF-0C3D-B1AA-50F88E1A0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0CDB0-2538-2BD8-90B0-9463EC3C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7E51-4F66-4F1A-BF01-48FAE14ADA34}" type="datetimeFigureOut">
              <a:rPr lang="en-SG" smtClean="0"/>
              <a:t>19/1/2026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B5049-BBCD-E20E-EDEE-BFEDDB391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B65E-0184-2082-A293-49BBCAC01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D6F2-E54C-4C6A-AE86-55FE9D1AE3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39337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95B51-EE9B-ECE6-49C7-E1903B33A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7FE3C-CCFD-D7C5-0B18-DF03C9A3A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E7E75-6394-1CC8-3F7B-985BEF2C8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435E8-A9BA-AC0C-A9C7-FCF088E8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7E51-4F66-4F1A-BF01-48FAE14ADA34}" type="datetimeFigureOut">
              <a:rPr lang="en-SG" smtClean="0"/>
              <a:t>19/1/2026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6DF25-E056-D78E-4051-34884994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5FA68-E1C5-C666-4470-A7EED685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D6F2-E54C-4C6A-AE86-55FE9D1AE3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6653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22A3C-891A-3F0E-949C-0AFE6070B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86665-8E6B-5F80-D103-0A6A7CF55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EAF7F-7971-CA90-001B-99EF0C90D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52AAEF-C158-FF61-D226-D7E3384BE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88D029-FF28-991A-54C3-B5A3D3C181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6194A-A5FD-EEBA-4FA9-C8F40781B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7E51-4F66-4F1A-BF01-48FAE14ADA34}" type="datetimeFigureOut">
              <a:rPr lang="en-SG" smtClean="0"/>
              <a:t>19/1/2026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9FB42-D647-CD7D-306B-EB3539C52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4EC55-B375-49E6-2D1C-4FCFC62E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D6F2-E54C-4C6A-AE86-55FE9D1AE3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84207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B805C-A6C0-9657-A55D-CF0821828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CE584C-57A2-1900-5721-FF19D4367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7E51-4F66-4F1A-BF01-48FAE14ADA34}" type="datetimeFigureOut">
              <a:rPr lang="en-SG" smtClean="0"/>
              <a:t>19/1/2026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763F6E-270B-134D-83DD-332BEF33B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34181-2D69-448D-D4C2-64671376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D6F2-E54C-4C6A-AE86-55FE9D1AE3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5419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A7165E-64B6-3675-FD43-5CAD347BE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7E51-4F66-4F1A-BF01-48FAE14ADA34}" type="datetimeFigureOut">
              <a:rPr lang="en-SG" smtClean="0"/>
              <a:t>19/1/2026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B902D2-A5C4-1147-E593-7855EB46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F85BC-FE25-760E-CA12-CA16713C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D6F2-E54C-4C6A-AE86-55FE9D1AE3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32262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2F45C-48D6-C6A8-CE39-E1FC56DD8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28E46-7246-A047-982D-1070301A5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9C71C-01F0-9145-DA26-1D918BF1D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EA524-8A86-1AAF-6737-A52F9DBA4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7E51-4F66-4F1A-BF01-48FAE14ADA34}" type="datetimeFigureOut">
              <a:rPr lang="en-SG" smtClean="0"/>
              <a:t>19/1/2026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A7734-4E11-5084-3EB2-B8D8D84E2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E91F3-7DB4-322C-C4B9-726D4C82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D6F2-E54C-4C6A-AE86-55FE9D1AE3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2883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C0DBE-D75F-D48C-E59B-D46E6810E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59E8-A4B6-BC35-8CBC-6376EFB0A7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FF670-4C36-69CA-77C2-8C75ED34B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665E8-0463-82BF-1078-718279F7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7E51-4F66-4F1A-BF01-48FAE14ADA34}" type="datetimeFigureOut">
              <a:rPr lang="en-SG" smtClean="0"/>
              <a:t>19/1/2026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CCA10-D457-1F90-46FB-DD37EEAB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56C67-7136-087F-EF60-47045B666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D6F2-E54C-4C6A-AE86-55FE9D1AE3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3478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C3AEF-1D16-8412-420F-D446348FB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C7DE5-60BE-AC8A-3D9D-A3EBCBD79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0D088-F581-9C09-7347-897622045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7E51-4F66-4F1A-BF01-48FAE14ADA34}" type="datetimeFigureOut">
              <a:rPr lang="en-SG" smtClean="0"/>
              <a:t>19/1/2026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FEDD2-0E3E-14C0-CCB7-163F7DE18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0F964-BF28-390A-859F-007C1A741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D6F2-E54C-4C6A-AE86-55FE9D1AE3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286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0C3DA-725A-061B-C058-2AD7734B0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78FAA-3000-CD06-859A-984C06923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E8800-9F00-B42A-01AF-52E98F143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7E51-4F66-4F1A-BF01-48FAE14ADA34}" type="datetimeFigureOut">
              <a:rPr lang="en-SG" smtClean="0"/>
              <a:t>19/1/2026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421DF-5C14-8952-FA3A-4E9044768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C5E72-CAD5-6D86-51AC-6EB19B63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D6F2-E54C-4C6A-AE86-55FE9D1AE3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6245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487DF5-97EE-9095-4688-A98A22D6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2E868-08C6-A5C8-9EC4-825C8A631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8E392-7380-99B9-6952-E5A3EF647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D7E51-4F66-4F1A-BF01-48FAE14ADA34}" type="datetimeFigureOut">
              <a:rPr lang="en-SG" smtClean="0"/>
              <a:t>19/1/2026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17839-DBC8-F694-2493-EF75D272F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1AD29-DE0D-FA78-9D03-858992E97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4D6F2-E54C-4C6A-AE86-55FE9D1AE3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56499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Tmr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4F3B7-DCDF-D158-D748-E1946844A7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Code Interpreter trigger (one of potentially)</a:t>
            </a:r>
          </a:p>
        </p:txBody>
      </p:sp>
    </p:spTree>
    <p:extLst>
      <p:ext uri="{BB962C8B-B14F-4D97-AF65-F5344CB8AC3E}">
        <p14:creationId xmlns:p14="http://schemas.microsoft.com/office/powerpoint/2010/main" val="189907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4AB3F-8B3B-3388-68D6-89C58690E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1600" dirty="0"/>
              <a:t>User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ED63C-1772-0F44-68F4-C33AAF7BD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"Run ANOVA across groups, then perform a Tukey HSD post-hoc (multiple-comparisons correction required) and report adjusted p-values and effect sizes. If that exact post-hoc cannot be computed with available tools, do not substitute another method, record it as a missing capability.“</a:t>
            </a:r>
          </a:p>
          <a:p>
            <a:endParaRPr lang="en-US" sz="1600" dirty="0"/>
          </a:p>
          <a:p>
            <a:r>
              <a:rPr lang="en-US" sz="1600" dirty="0"/>
              <a:t>Look at the accompanying md files for the output of the test run for more context.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3627609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146D-DA11-207F-D7D9-5AA31FBC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After executing the plan and interpreting the tool outputs reflect node checks if nothing actionable remains, then takes the </a:t>
            </a:r>
            <a:r>
              <a:rPr lang="en-US" sz="1600" dirty="0">
                <a:hlinkClick r:id="rId2"/>
              </a:rPr>
              <a:t>not filtered:</a:t>
            </a:r>
            <a:r>
              <a:rPr lang="en-US" sz="1600" dirty="0"/>
              <a:t> branch and finalizes. In that branch it conditionally calls </a:t>
            </a:r>
            <a:r>
              <a:rPr lang="en-US" sz="1600" dirty="0">
                <a:hlinkClick r:id="rId2"/>
              </a:rPr>
              <a:t>_</a:t>
            </a:r>
            <a:r>
              <a:rPr lang="en-US" sz="1600" dirty="0" err="1">
                <a:hlinkClick r:id="rId2"/>
              </a:rPr>
              <a:t>diagnose_tool_gap</a:t>
            </a:r>
            <a:r>
              <a:rPr lang="en-US" sz="1600" dirty="0">
                <a:hlinkClick r:id="rId2"/>
              </a:rPr>
              <a:t>()</a:t>
            </a:r>
            <a:r>
              <a:rPr lang="en-US" sz="1600" dirty="0"/>
              <a:t> and writes it into </a:t>
            </a:r>
            <a:r>
              <a:rPr lang="en-US" sz="1600" dirty="0" err="1"/>
              <a:t>capability_gap</a:t>
            </a:r>
            <a:endParaRPr lang="en-SG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0FAED-9F20-9366-5B64-A8110F293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SG" sz="1600" dirty="0"/>
              <a:t>if not filtered:</a:t>
            </a:r>
          </a:p>
          <a:p>
            <a:pPr marL="0" indent="0">
              <a:buNone/>
            </a:pPr>
            <a:r>
              <a:rPr lang="en-US" sz="1600" dirty="0"/>
              <a:t>                # Nothing actionable means the missing targets cannot be mapped to current tools/columns.</a:t>
            </a:r>
          </a:p>
          <a:p>
            <a:pPr marL="0" indent="0">
              <a:buNone/>
            </a:pPr>
            <a:r>
              <a:rPr lang="en-US" sz="1600" dirty="0"/>
              <a:t>                # Diagnose whether this is a tool capability gap (needs new tool) vs. other root cause.</a:t>
            </a:r>
          </a:p>
          <a:p>
            <a:pPr marL="0" indent="0">
              <a:buNone/>
            </a:pPr>
            <a:r>
              <a:rPr lang="en-SG" sz="1600" dirty="0"/>
              <a:t>                try:</a:t>
            </a:r>
          </a:p>
          <a:p>
            <a:pPr marL="0" indent="0">
              <a:buNone/>
            </a:pPr>
            <a:r>
              <a:rPr lang="en-US" sz="1600" dirty="0"/>
              <a:t>                    </a:t>
            </a:r>
            <a:r>
              <a:rPr lang="en-US" sz="1600" dirty="0" err="1"/>
              <a:t>explain_gaps</a:t>
            </a:r>
            <a:r>
              <a:rPr lang="en-US" sz="1600" dirty="0"/>
              <a:t> = str(</a:t>
            </a:r>
            <a:r>
              <a:rPr lang="en-US" sz="1600" dirty="0" err="1"/>
              <a:t>os.getenv</a:t>
            </a:r>
            <a:r>
              <a:rPr lang="en-US" sz="1600" dirty="0"/>
              <a:t>("ANALYSIS_EXPLAIN_TOOL_GAPS", "1")).lower() in ("1", "true", "yes")</a:t>
            </a:r>
          </a:p>
          <a:p>
            <a:pPr marL="0" indent="0">
              <a:buNone/>
            </a:pPr>
            <a:r>
              <a:rPr lang="en-SG" sz="1600" dirty="0"/>
              <a:t>                except Exception:</a:t>
            </a:r>
          </a:p>
          <a:p>
            <a:pPr marL="0" indent="0">
              <a:buNone/>
            </a:pPr>
            <a:r>
              <a:rPr lang="en-SG" sz="1600" dirty="0"/>
              <a:t>                    </a:t>
            </a:r>
            <a:r>
              <a:rPr lang="en-SG" sz="1600" dirty="0" err="1"/>
              <a:t>explain_gaps</a:t>
            </a:r>
            <a:r>
              <a:rPr lang="en-SG" sz="1600" dirty="0"/>
              <a:t> = True</a:t>
            </a:r>
          </a:p>
          <a:p>
            <a:pPr marL="0" indent="0">
              <a:buNone/>
            </a:pPr>
            <a:r>
              <a:rPr lang="en-SG" sz="1600" dirty="0"/>
              <a:t>                updates: </a:t>
            </a:r>
            <a:r>
              <a:rPr lang="en-SG" sz="1600" dirty="0" err="1"/>
              <a:t>dict</a:t>
            </a:r>
            <a:r>
              <a:rPr lang="en-SG" sz="1600" dirty="0"/>
              <a:t> = {"finalize": True}</a:t>
            </a:r>
          </a:p>
          <a:p>
            <a:pPr marL="0" indent="0">
              <a:buNone/>
            </a:pPr>
            <a:r>
              <a:rPr lang="en-US" sz="1600" dirty="0"/>
              <a:t>                if </a:t>
            </a:r>
            <a:r>
              <a:rPr lang="en-US" sz="1600" dirty="0" err="1"/>
              <a:t>explain_gaps</a:t>
            </a:r>
            <a:r>
              <a:rPr lang="en-US" sz="1600" dirty="0"/>
              <a:t> and </a:t>
            </a:r>
            <a:r>
              <a:rPr lang="en-US" sz="1600" dirty="0" err="1"/>
              <a:t>missing_raw</a:t>
            </a:r>
            <a:r>
              <a:rPr lang="en-US" sz="1600" dirty="0"/>
              <a:t>:</a:t>
            </a:r>
          </a:p>
          <a:p>
            <a:pPr marL="0" indent="0">
              <a:buNone/>
            </a:pPr>
            <a:r>
              <a:rPr lang="en-SG" sz="1600" dirty="0">
                <a:highlight>
                  <a:srgbClr val="FFFF00"/>
                </a:highlight>
              </a:rPr>
              <a:t>                    try:</a:t>
            </a:r>
          </a:p>
          <a:p>
            <a:pPr marL="0" indent="0">
              <a:buNone/>
            </a:pPr>
            <a:r>
              <a:rPr lang="en-US" sz="1600" dirty="0">
                <a:highlight>
                  <a:srgbClr val="FFFF00"/>
                </a:highlight>
              </a:rPr>
              <a:t>                        </a:t>
            </a:r>
            <a:r>
              <a:rPr lang="en-US" sz="1600" dirty="0" err="1">
                <a:highlight>
                  <a:srgbClr val="FFFF00"/>
                </a:highlight>
              </a:rPr>
              <a:t>diag</a:t>
            </a:r>
            <a:r>
              <a:rPr lang="en-US" sz="1600" dirty="0">
                <a:highlight>
                  <a:srgbClr val="FFFF00"/>
                </a:highlight>
              </a:rPr>
              <a:t> = await self._</a:t>
            </a:r>
            <a:r>
              <a:rPr lang="en-US" sz="1600" dirty="0" err="1">
                <a:highlight>
                  <a:srgbClr val="FFFF00"/>
                </a:highlight>
              </a:rPr>
              <a:t>diagnose_tool_gap</a:t>
            </a:r>
            <a:r>
              <a:rPr lang="en-US" sz="1600" dirty="0">
                <a:highlight>
                  <a:srgbClr val="FFFF00"/>
                </a:highlight>
              </a:rPr>
              <a:t>(state, </a:t>
            </a:r>
            <a:r>
              <a:rPr lang="en-US" sz="1600" dirty="0" err="1">
                <a:highlight>
                  <a:srgbClr val="FFFF00"/>
                </a:highlight>
              </a:rPr>
              <a:t>missing_raw</a:t>
            </a:r>
            <a:r>
              <a:rPr lang="en-US" sz="1600" dirty="0">
                <a:highlight>
                  <a:srgbClr val="FFFF00"/>
                </a:highlight>
              </a:rPr>
              <a:t>)</a:t>
            </a:r>
          </a:p>
          <a:p>
            <a:pPr marL="0" indent="0">
              <a:buNone/>
            </a:pPr>
            <a:r>
              <a:rPr lang="en-SG" sz="1600" dirty="0">
                <a:highlight>
                  <a:srgbClr val="FFFF00"/>
                </a:highlight>
              </a:rPr>
              <a:t>                        updates["</a:t>
            </a:r>
            <a:r>
              <a:rPr lang="en-SG" sz="1600" dirty="0" err="1">
                <a:highlight>
                  <a:srgbClr val="FFFF00"/>
                </a:highlight>
              </a:rPr>
              <a:t>capability_gap</a:t>
            </a:r>
            <a:r>
              <a:rPr lang="en-SG" sz="1600" dirty="0">
                <a:highlight>
                  <a:srgbClr val="FFFF00"/>
                </a:highlight>
              </a:rPr>
              <a:t>"] = </a:t>
            </a:r>
            <a:r>
              <a:rPr lang="en-SG" sz="1600" dirty="0" err="1">
                <a:highlight>
                  <a:srgbClr val="FFFF00"/>
                </a:highlight>
              </a:rPr>
              <a:t>diag</a:t>
            </a:r>
            <a:endParaRPr lang="en-SG" sz="16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1600" dirty="0"/>
              <a:t>                        # Preserve </a:t>
            </a:r>
            <a:r>
              <a:rPr lang="en-US" sz="1600" dirty="0" err="1"/>
              <a:t>missing_info</a:t>
            </a:r>
            <a:r>
              <a:rPr lang="en-US" sz="1600" dirty="0"/>
              <a:t> for debug sidecars; we are finalizing anyway.</a:t>
            </a:r>
          </a:p>
          <a:p>
            <a:pPr marL="0" indent="0">
              <a:buNone/>
            </a:pPr>
            <a:r>
              <a:rPr lang="en-US" sz="1600" dirty="0"/>
              <a:t>                        updates["coverage"] = {"</a:t>
            </a:r>
            <a:r>
              <a:rPr lang="en-US" sz="1600" dirty="0" err="1"/>
              <a:t>answers_query</a:t>
            </a:r>
            <a:r>
              <a:rPr lang="en-US" sz="1600" dirty="0"/>
              <a:t>": False, "</a:t>
            </a:r>
            <a:r>
              <a:rPr lang="en-US" sz="1600" dirty="0" err="1"/>
              <a:t>missing_info</a:t>
            </a:r>
            <a:r>
              <a:rPr lang="en-US" sz="1600" dirty="0"/>
              <a:t>": </a:t>
            </a:r>
            <a:r>
              <a:rPr lang="en-US" sz="1600" dirty="0" err="1"/>
              <a:t>missing_raw</a:t>
            </a:r>
            <a:r>
              <a:rPr lang="en-US" sz="1600" dirty="0"/>
              <a:t>[:10]}</a:t>
            </a:r>
            <a:endParaRPr lang="en-SG" sz="1600" b="1" dirty="0"/>
          </a:p>
        </p:txBody>
      </p:sp>
    </p:spTree>
    <p:extLst>
      <p:ext uri="{BB962C8B-B14F-4D97-AF65-F5344CB8AC3E}">
        <p14:creationId xmlns:p14="http://schemas.microsoft.com/office/powerpoint/2010/main" val="2290371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A641F-DFEE-91D8-B857-BD4FBA10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_</a:t>
            </a:r>
            <a:r>
              <a:rPr lang="en-US" sz="1600" dirty="0" err="1"/>
              <a:t>diagnose_tool_gap</a:t>
            </a:r>
            <a:r>
              <a:rPr lang="en-US" sz="1600" dirty="0"/>
              <a:t> </a:t>
            </a:r>
            <a:r>
              <a:rPr lang="en-US" sz="1600" dirty="0" err="1"/>
              <a:t>llm</a:t>
            </a:r>
            <a:r>
              <a:rPr lang="en-US" sz="1600" dirty="0"/>
              <a:t> call prompt</a:t>
            </a:r>
            <a:endParaRPr lang="en-SG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20D88-2CBC-243E-62B1-585A9E47A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SG" sz="1400" dirty="0"/>
              <a:t>prompt = (</a:t>
            </a:r>
          </a:p>
          <a:p>
            <a:pPr marL="0" indent="0">
              <a:buNone/>
            </a:pPr>
            <a:r>
              <a:rPr lang="en-US" sz="1400" dirty="0"/>
              <a:t>            "You are diagnosing why an analysis agent cannot fully answer a user query.\n\n"</a:t>
            </a:r>
          </a:p>
          <a:p>
            <a:pPr marL="0" indent="0">
              <a:buNone/>
            </a:pPr>
            <a:r>
              <a:rPr lang="en-US" sz="1400" dirty="0"/>
              <a:t>            "Your task: decide whether the CURRENT AVAILABLE TOOLS are capable of answering the instruction.\n"</a:t>
            </a:r>
          </a:p>
          <a:p>
            <a:pPr marL="0" indent="0">
              <a:buNone/>
            </a:pPr>
            <a:r>
              <a:rPr lang="en-US" sz="1400" dirty="0"/>
              <a:t>            "If not capable, propose what NEW TOOL CAPABILITY is needed: describe it, why it's needed, and what goal it fulfills.\n\n"</a:t>
            </a:r>
          </a:p>
          <a:p>
            <a:pPr marL="0" indent="0">
              <a:buNone/>
            </a:pPr>
            <a:r>
              <a:rPr lang="en-SG" sz="1400" dirty="0"/>
              <a:t>            </a:t>
            </a:r>
            <a:r>
              <a:rPr lang="en-SG" sz="1400" dirty="0" err="1"/>
              <a:t>f"INSTRUCTION</a:t>
            </a:r>
            <a:r>
              <a:rPr lang="en-SG" sz="1400" dirty="0"/>
              <a:t>:\n{</a:t>
            </a:r>
            <a:r>
              <a:rPr lang="en-SG" sz="1400" dirty="0" err="1"/>
              <a:t>state.instruction</a:t>
            </a:r>
            <a:r>
              <a:rPr lang="en-SG" sz="1400" dirty="0"/>
              <a:t> or ''}\n\n"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f"DATASET</a:t>
            </a:r>
            <a:r>
              <a:rPr lang="en-US" sz="1400" dirty="0"/>
              <a:t> COLUMNS (preview):\n{</a:t>
            </a:r>
            <a:r>
              <a:rPr lang="en-US" sz="1400" dirty="0" err="1"/>
              <a:t>cols_preview</a:t>
            </a:r>
            <a:r>
              <a:rPr lang="en-US" sz="1400" dirty="0"/>
              <a:t>}\n\n"</a:t>
            </a:r>
          </a:p>
          <a:p>
            <a:pPr marL="0" indent="0">
              <a:buNone/>
            </a:pPr>
            <a:r>
              <a:rPr lang="en-SG" sz="1400" dirty="0"/>
              <a:t>            "AVAILABLE TOOLS (name, description, </a:t>
            </a:r>
            <a:r>
              <a:rPr lang="en-SG" sz="1400" dirty="0" err="1"/>
              <a:t>args</a:t>
            </a:r>
            <a:r>
              <a:rPr lang="en-SG" sz="1400" dirty="0"/>
              <a:t>):\n"</a:t>
            </a:r>
          </a:p>
          <a:p>
            <a:pPr marL="0" indent="0">
              <a:buNone/>
            </a:pPr>
            <a:r>
              <a:rPr lang="pt-BR" sz="1400" dirty="0"/>
              <a:t>            f"{tools_preview}\n\n"</a:t>
            </a:r>
          </a:p>
          <a:p>
            <a:pPr marL="0" indent="0">
              <a:buNone/>
            </a:pPr>
            <a:r>
              <a:rPr lang="en-US" sz="1400" dirty="0"/>
              <a:t>            "SUCCESSFUL TOOL OUTPUTS WE ALREADY HAVE (preview):\n"</a:t>
            </a:r>
          </a:p>
          <a:p>
            <a:pPr marL="0" indent="0">
              <a:buNone/>
            </a:pPr>
            <a:r>
              <a:rPr lang="pt-BR" sz="1400" dirty="0"/>
              <a:t>            f"{outputs_preview}\n\n"</a:t>
            </a:r>
          </a:p>
          <a:p>
            <a:pPr marL="0" indent="0">
              <a:buNone/>
            </a:pPr>
            <a:r>
              <a:rPr lang="en-US" sz="1400" dirty="0"/>
              <a:t>            "MISSING INFO / UNANSWERED TARGETS (from reflection/interpretation):\n"</a:t>
            </a:r>
          </a:p>
          <a:p>
            <a:pPr marL="0" indent="0">
              <a:buNone/>
            </a:pPr>
            <a:r>
              <a:rPr lang="pt-BR" sz="1400" dirty="0"/>
              <a:t>            f"{missing_preview}\n\n"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endParaRPr lang="en-SG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1DAFAB5-A902-A9B7-7E56-160A64E47FE6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"Return ONLY JSON with this schema:\n"</a:t>
            </a:r>
          </a:p>
          <a:p>
            <a:pPr marL="0" indent="0">
              <a:buNone/>
            </a:pPr>
            <a:r>
              <a:rPr lang="en-SG" sz="1400" dirty="0"/>
              <a:t>            "{\n"</a:t>
            </a:r>
          </a:p>
          <a:p>
            <a:pPr marL="0" indent="0">
              <a:buNone/>
            </a:pPr>
            <a:r>
              <a:rPr lang="en-US" sz="1400" dirty="0"/>
              <a:t>            "  \"</a:t>
            </a:r>
            <a:r>
              <a:rPr lang="en-US" sz="1400" dirty="0" err="1"/>
              <a:t>needs_more_tools</a:t>
            </a:r>
            <a:r>
              <a:rPr lang="en-US" sz="1400" dirty="0"/>
              <a:t>\": </a:t>
            </a:r>
            <a:r>
              <a:rPr lang="en-US" sz="1400" dirty="0" err="1"/>
              <a:t>true|false</a:t>
            </a:r>
            <a:r>
              <a:rPr lang="en-US" sz="1400" dirty="0"/>
              <a:t>,\n"</a:t>
            </a:r>
          </a:p>
          <a:p>
            <a:pPr marL="0" indent="0">
              <a:buNone/>
            </a:pPr>
            <a:r>
              <a:rPr lang="en-SG" sz="1400" dirty="0"/>
              <a:t>            "  \"</a:t>
            </a:r>
            <a:r>
              <a:rPr lang="en-SG" sz="1400" dirty="0" err="1"/>
              <a:t>root_cause</a:t>
            </a:r>
            <a:r>
              <a:rPr lang="en-SG" sz="1400" dirty="0"/>
              <a:t>\": \"</a:t>
            </a:r>
            <a:r>
              <a:rPr lang="en-SG" sz="1400" dirty="0" err="1"/>
              <a:t>tool_gap</a:t>
            </a:r>
            <a:r>
              <a:rPr lang="en-SG" sz="1400" dirty="0"/>
              <a:t>\"|\"</a:t>
            </a:r>
            <a:r>
              <a:rPr lang="en-SG" sz="1400" dirty="0" err="1"/>
              <a:t>insufficient_outputs</a:t>
            </a:r>
            <a:r>
              <a:rPr lang="en-SG" sz="1400" dirty="0"/>
              <a:t>\"|\"</a:t>
            </a:r>
            <a:r>
              <a:rPr lang="en-SG" sz="1400" dirty="0" err="1"/>
              <a:t>data_not_present</a:t>
            </a:r>
            <a:r>
              <a:rPr lang="en-SG" sz="1400" dirty="0"/>
              <a:t>\"|\"</a:t>
            </a:r>
            <a:r>
              <a:rPr lang="en-SG" sz="1400" dirty="0" err="1"/>
              <a:t>invalid_tool_calls</a:t>
            </a:r>
            <a:r>
              <a:rPr lang="en-SG" sz="1400" dirty="0"/>
              <a:t>\"|\"other\",\n"</a:t>
            </a:r>
          </a:p>
          <a:p>
            <a:pPr marL="0" indent="0">
              <a:buNone/>
            </a:pPr>
            <a:r>
              <a:rPr lang="en-US" sz="1400" dirty="0"/>
              <a:t>            "  \"</a:t>
            </a:r>
            <a:r>
              <a:rPr lang="en-US" sz="1400" dirty="0" err="1"/>
              <a:t>why_cannot_answer</a:t>
            </a:r>
            <a:r>
              <a:rPr lang="en-US" sz="1400" dirty="0"/>
              <a:t>\": \"&lt;clear explanation, max 500 chars&gt;\",\n"</a:t>
            </a:r>
          </a:p>
          <a:p>
            <a:pPr marL="0" indent="0">
              <a:buNone/>
            </a:pPr>
            <a:r>
              <a:rPr lang="en-SG" sz="1400" dirty="0"/>
              <a:t>            "  \"</a:t>
            </a:r>
            <a:r>
              <a:rPr lang="en-SG" sz="1400" dirty="0" err="1"/>
              <a:t>proposed_tools</a:t>
            </a:r>
            <a:r>
              <a:rPr lang="en-SG" sz="1400" dirty="0"/>
              <a:t>\": [\n"</a:t>
            </a:r>
          </a:p>
          <a:p>
            <a:pPr marL="0" indent="0">
              <a:buNone/>
            </a:pPr>
            <a:r>
              <a:rPr lang="en-SG" sz="1400" dirty="0"/>
              <a:t>            "    {\n"</a:t>
            </a:r>
          </a:p>
          <a:p>
            <a:pPr marL="0" indent="0">
              <a:buNone/>
            </a:pPr>
            <a:r>
              <a:rPr lang="en-US" sz="1400" dirty="0"/>
              <a:t>            "      \"</a:t>
            </a:r>
            <a:r>
              <a:rPr lang="en-US" sz="1400" dirty="0" err="1"/>
              <a:t>tool_name</a:t>
            </a:r>
            <a:r>
              <a:rPr lang="en-US" sz="1400" dirty="0"/>
              <a:t>\": \"&lt;descriptive name, not a code identifier&gt;\",\n"</a:t>
            </a:r>
          </a:p>
          <a:p>
            <a:pPr marL="0" indent="0">
              <a:buNone/>
            </a:pPr>
            <a:r>
              <a:rPr lang="en-US" sz="1400" dirty="0"/>
              <a:t>            "      \"goal\": \"&lt;what missing goal it fulfills&gt;\",\n"</a:t>
            </a:r>
          </a:p>
          <a:p>
            <a:pPr marL="0" indent="0">
              <a:buNone/>
            </a:pPr>
            <a:r>
              <a:rPr lang="en-US" sz="1400" dirty="0"/>
              <a:t>            "      \"purpose\": \"&lt;what it does in plain language&gt;\",\n"</a:t>
            </a:r>
          </a:p>
          <a:p>
            <a:pPr marL="0" indent="0">
              <a:buNone/>
            </a:pPr>
            <a:r>
              <a:rPr lang="en-US" sz="1400" dirty="0"/>
              <a:t>            "      \"</a:t>
            </a:r>
            <a:r>
              <a:rPr lang="en-US" sz="1400" dirty="0" err="1"/>
              <a:t>why_needed</a:t>
            </a:r>
            <a:r>
              <a:rPr lang="en-US" sz="1400" dirty="0"/>
              <a:t>\": \"&lt;why current tools can't do it&gt;\",\n"</a:t>
            </a:r>
          </a:p>
          <a:p>
            <a:pPr marL="0" indent="0">
              <a:buNone/>
            </a:pPr>
            <a:r>
              <a:rPr lang="en-SG" sz="1400" dirty="0"/>
              <a:t>            "      \"inputs\": [\"&lt;input1&gt;\", \"&lt;input2&gt;\"],\n"</a:t>
            </a:r>
          </a:p>
          <a:p>
            <a:pPr marL="0" indent="0">
              <a:buNone/>
            </a:pPr>
            <a:r>
              <a:rPr lang="en-SG" sz="1400" dirty="0"/>
              <a:t>            "      \"outputs\": [\"&lt;output1&gt;\", \"&lt;output2&gt;\"]\n"</a:t>
            </a:r>
          </a:p>
          <a:p>
            <a:pPr marL="0" indent="0">
              <a:buNone/>
            </a:pPr>
            <a:r>
              <a:rPr lang="en-SG" sz="1400" dirty="0"/>
              <a:t>            "    }\n"</a:t>
            </a:r>
          </a:p>
          <a:p>
            <a:pPr marL="0" indent="0">
              <a:buNone/>
            </a:pPr>
            <a:r>
              <a:rPr lang="en-SG" sz="1400" dirty="0"/>
              <a:t>            "  ],\n"</a:t>
            </a:r>
          </a:p>
          <a:p>
            <a:pPr marL="0" indent="0">
              <a:buNone/>
            </a:pPr>
            <a:r>
              <a:rPr lang="en-SG" sz="1400" dirty="0"/>
              <a:t>            "  \"confidence\": 0.0,\n"</a:t>
            </a:r>
          </a:p>
          <a:p>
            <a:pPr marL="0" indent="0">
              <a:buNone/>
            </a:pPr>
            <a:r>
              <a:rPr lang="fr-FR" sz="1400" dirty="0"/>
              <a:t>            "  \"notes\": \"&lt;</a:t>
            </a:r>
            <a:r>
              <a:rPr lang="fr-FR" sz="1400" dirty="0" err="1"/>
              <a:t>optional</a:t>
            </a:r>
            <a:r>
              <a:rPr lang="fr-FR" sz="1400" dirty="0"/>
              <a:t>, max 200 chars&gt;\"\n"</a:t>
            </a:r>
          </a:p>
          <a:p>
            <a:pPr marL="0" indent="0">
              <a:buNone/>
            </a:pPr>
            <a:r>
              <a:rPr lang="en-SG" sz="1400" dirty="0"/>
              <a:t>            "}\n“)</a:t>
            </a:r>
          </a:p>
        </p:txBody>
      </p:sp>
    </p:spTree>
    <p:extLst>
      <p:ext uri="{BB962C8B-B14F-4D97-AF65-F5344CB8AC3E}">
        <p14:creationId xmlns:p14="http://schemas.microsoft.com/office/powerpoint/2010/main" val="173405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84A3D-4E14-A7F3-6BFD-4A7576BAC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_</a:t>
            </a:r>
            <a:r>
              <a:rPr lang="en-US" sz="1600" dirty="0" err="1"/>
              <a:t>diagnose_tool_gap</a:t>
            </a:r>
            <a:r>
              <a:rPr lang="en-US" sz="1600" dirty="0"/>
              <a:t> function updates </a:t>
            </a:r>
            <a:r>
              <a:rPr lang="en-US" sz="1600" dirty="0" err="1"/>
              <a:t>capability_gap</a:t>
            </a:r>
            <a:r>
              <a:rPr lang="en-US" sz="1600" dirty="0"/>
              <a:t> state with the following</a:t>
            </a:r>
            <a:endParaRPr lang="en-SG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0AA34-65BB-9CA0-0B24-851E1FB6F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SG" sz="1600" dirty="0"/>
              <a:t>out = {</a:t>
            </a:r>
          </a:p>
          <a:p>
            <a:pPr marL="0" indent="0">
              <a:buNone/>
            </a:pPr>
            <a:r>
              <a:rPr lang="en-US" sz="1600" dirty="0"/>
              <a:t>                    "</a:t>
            </a:r>
            <a:r>
              <a:rPr lang="en-US" sz="1600" dirty="0" err="1"/>
              <a:t>needs_more_tools</a:t>
            </a:r>
            <a:r>
              <a:rPr lang="en-US" sz="1600" dirty="0"/>
              <a:t>": bool(</a:t>
            </a:r>
            <a:r>
              <a:rPr lang="en-US" sz="1600" dirty="0" err="1"/>
              <a:t>payload.get</a:t>
            </a:r>
            <a:r>
              <a:rPr lang="en-US" sz="1600" dirty="0"/>
              <a:t>("</a:t>
            </a:r>
            <a:r>
              <a:rPr lang="en-US" sz="1600" dirty="0" err="1"/>
              <a:t>needs_more_tools</a:t>
            </a:r>
            <a:r>
              <a:rPr lang="en-US" sz="1600" dirty="0"/>
              <a:t>", False)),</a:t>
            </a:r>
          </a:p>
          <a:p>
            <a:pPr marL="0" indent="0">
              <a:buNone/>
            </a:pPr>
            <a:r>
              <a:rPr lang="en-US" sz="1600" dirty="0"/>
              <a:t>                    "</a:t>
            </a:r>
            <a:r>
              <a:rPr lang="en-US" sz="1600" dirty="0" err="1"/>
              <a:t>root_cause</a:t>
            </a:r>
            <a:r>
              <a:rPr lang="en-US" sz="1600" dirty="0"/>
              <a:t>": str(</a:t>
            </a:r>
            <a:r>
              <a:rPr lang="en-US" sz="1600" dirty="0" err="1"/>
              <a:t>payload.get</a:t>
            </a:r>
            <a:r>
              <a:rPr lang="en-US" sz="1600" dirty="0"/>
              <a:t>("</a:t>
            </a:r>
            <a:r>
              <a:rPr lang="en-US" sz="1600" dirty="0" err="1"/>
              <a:t>root_cause</a:t>
            </a:r>
            <a:r>
              <a:rPr lang="en-US" sz="1600" dirty="0"/>
              <a:t>") or "other")[:40],</a:t>
            </a:r>
          </a:p>
          <a:p>
            <a:pPr marL="0" indent="0">
              <a:buNone/>
            </a:pPr>
            <a:r>
              <a:rPr lang="en-US" sz="1600" dirty="0"/>
              <a:t>                    "</a:t>
            </a:r>
            <a:r>
              <a:rPr lang="en-US" sz="1600" dirty="0" err="1"/>
              <a:t>why_cannot_answer</a:t>
            </a:r>
            <a:r>
              <a:rPr lang="en-US" sz="1600" dirty="0"/>
              <a:t>": str(</a:t>
            </a:r>
            <a:r>
              <a:rPr lang="en-US" sz="1600" dirty="0" err="1"/>
              <a:t>payload.get</a:t>
            </a:r>
            <a:r>
              <a:rPr lang="en-US" sz="1600" dirty="0"/>
              <a:t>("</a:t>
            </a:r>
            <a:r>
              <a:rPr lang="en-US" sz="1600" dirty="0" err="1"/>
              <a:t>why_cannot_answer</a:t>
            </a:r>
            <a:r>
              <a:rPr lang="en-US" sz="1600" dirty="0"/>
              <a:t>") or "")[:500],</a:t>
            </a:r>
          </a:p>
          <a:p>
            <a:pPr marL="0" indent="0">
              <a:buNone/>
            </a:pPr>
            <a:r>
              <a:rPr lang="en-US" sz="1600" dirty="0"/>
              <a:t>                    "</a:t>
            </a:r>
            <a:r>
              <a:rPr lang="en-US" sz="1600" dirty="0" err="1"/>
              <a:t>proposed_tools</a:t>
            </a:r>
            <a:r>
              <a:rPr lang="en-US" sz="1600" dirty="0"/>
              <a:t>": </a:t>
            </a:r>
            <a:r>
              <a:rPr lang="en-US" sz="1600" dirty="0" err="1"/>
              <a:t>payload.get</a:t>
            </a:r>
            <a:r>
              <a:rPr lang="en-US" sz="1600" dirty="0"/>
              <a:t>("</a:t>
            </a:r>
            <a:r>
              <a:rPr lang="en-US" sz="1600" dirty="0" err="1"/>
              <a:t>proposed_tools</a:t>
            </a:r>
            <a:r>
              <a:rPr lang="en-US" sz="1600" dirty="0"/>
              <a:t>") if </a:t>
            </a:r>
            <a:r>
              <a:rPr lang="en-US" sz="1600" dirty="0" err="1"/>
              <a:t>isinstance</a:t>
            </a:r>
            <a:r>
              <a:rPr lang="en-US" sz="1600" dirty="0"/>
              <a:t>(</a:t>
            </a:r>
            <a:r>
              <a:rPr lang="en-US" sz="1600" dirty="0" err="1"/>
              <a:t>payload.get</a:t>
            </a:r>
            <a:r>
              <a:rPr lang="en-US" sz="1600" dirty="0"/>
              <a:t>("</a:t>
            </a:r>
            <a:r>
              <a:rPr lang="en-US" sz="1600" dirty="0" err="1"/>
              <a:t>proposed_tools</a:t>
            </a:r>
            <a:r>
              <a:rPr lang="en-US" sz="1600" dirty="0"/>
              <a:t>"), list) else [],</a:t>
            </a:r>
          </a:p>
          <a:p>
            <a:pPr marL="0" indent="0">
              <a:buNone/>
            </a:pPr>
            <a:r>
              <a:rPr lang="en-US" sz="1600" dirty="0"/>
              <a:t>                    "confidence": float(</a:t>
            </a:r>
            <a:r>
              <a:rPr lang="en-US" sz="1600" dirty="0" err="1"/>
              <a:t>payload.get</a:t>
            </a:r>
            <a:r>
              <a:rPr lang="en-US" sz="1600" dirty="0"/>
              <a:t>("confidence") or 0.0) if </a:t>
            </a:r>
            <a:r>
              <a:rPr lang="en-US" sz="1600" dirty="0" err="1"/>
              <a:t>isinstance</a:t>
            </a:r>
            <a:r>
              <a:rPr lang="en-US" sz="1600" dirty="0"/>
              <a:t>(</a:t>
            </a:r>
            <a:r>
              <a:rPr lang="en-US" sz="1600" dirty="0" err="1"/>
              <a:t>payload.get</a:t>
            </a:r>
            <a:r>
              <a:rPr lang="en-US" sz="1600" dirty="0"/>
              <a:t>("confidence"), (int, float, str)) else 0.0,</a:t>
            </a:r>
          </a:p>
          <a:p>
            <a:pPr marL="0" indent="0">
              <a:buNone/>
            </a:pPr>
            <a:r>
              <a:rPr lang="en-SG" sz="1600" dirty="0"/>
              <a:t>                    "notes": str(</a:t>
            </a:r>
            <a:r>
              <a:rPr lang="en-SG" sz="1600" dirty="0" err="1"/>
              <a:t>payload.get</a:t>
            </a:r>
            <a:r>
              <a:rPr lang="en-SG" sz="1600" dirty="0"/>
              <a:t>("notes") or "")[:200],</a:t>
            </a:r>
          </a:p>
          <a:p>
            <a:pPr marL="0" indent="0">
              <a:buNone/>
            </a:pPr>
            <a:r>
              <a:rPr lang="en-SG" sz="1600" dirty="0"/>
              <a:t>                }</a:t>
            </a:r>
          </a:p>
        </p:txBody>
      </p:sp>
    </p:spTree>
    <p:extLst>
      <p:ext uri="{BB962C8B-B14F-4D97-AF65-F5344CB8AC3E}">
        <p14:creationId xmlns:p14="http://schemas.microsoft.com/office/powerpoint/2010/main" val="4239468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BE56A-BC19-7B1F-CF62-46EC3D068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1600" dirty="0"/>
              <a:t>capability_gap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3FFB7-C40A-0F44-6875-A896503CC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err="1"/>
              <a:t>capability_gap</a:t>
            </a:r>
            <a:r>
              <a:rPr lang="en-US" sz="1600" dirty="0"/>
              <a:t>: Annotated[Optional[</a:t>
            </a:r>
            <a:r>
              <a:rPr lang="en-US" sz="1600" dirty="0" err="1"/>
              <a:t>Dict</a:t>
            </a:r>
            <a:r>
              <a:rPr lang="en-US" sz="1600" dirty="0"/>
              <a:t>[str, Any]], _</a:t>
            </a:r>
            <a:r>
              <a:rPr lang="en-US" sz="1600" dirty="0" err="1"/>
              <a:t>replace_latest_any</a:t>
            </a:r>
            <a:r>
              <a:rPr lang="en-US" sz="1600" dirty="0"/>
              <a:t>] = Field(</a:t>
            </a:r>
          </a:p>
          <a:p>
            <a:pPr marL="0" indent="0">
              <a:buNone/>
            </a:pPr>
            <a:r>
              <a:rPr lang="en-SG" sz="1600" dirty="0"/>
              <a:t>        default=None,</a:t>
            </a:r>
          </a:p>
          <a:p>
            <a:pPr marL="0" indent="0">
              <a:buNone/>
            </a:pPr>
            <a:r>
              <a:rPr lang="en-SG" sz="1600" dirty="0"/>
              <a:t>        description=(</a:t>
            </a:r>
          </a:p>
          <a:p>
            <a:pPr marL="0" indent="0">
              <a:buNone/>
            </a:pPr>
            <a:r>
              <a:rPr lang="en-US" sz="1600" dirty="0"/>
              <a:t>            "Optional structured diagnosis explaining why the current toolset cannot fully answer the instruction, "</a:t>
            </a:r>
          </a:p>
          <a:p>
            <a:pPr marL="0" indent="0">
              <a:buNone/>
            </a:pPr>
            <a:r>
              <a:rPr lang="en-US" sz="1600" dirty="0"/>
              <a:t>            "including proposed additional tool capability specifications."</a:t>
            </a:r>
          </a:p>
          <a:p>
            <a:pPr marL="0" indent="0">
              <a:buNone/>
            </a:pPr>
            <a:r>
              <a:rPr lang="en-SG" sz="1600" dirty="0"/>
              <a:t>        ),</a:t>
            </a:r>
          </a:p>
          <a:p>
            <a:pPr marL="0" indent="0">
              <a:buNone/>
            </a:pPr>
            <a:r>
              <a:rPr lang="en-SG" sz="1600" dirty="0"/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2203780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948</Words>
  <Application>Microsoft Office PowerPoint</Application>
  <PresentationFormat>Widescreen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Code Interpreter trigger (one of potentially)</vt:lpstr>
      <vt:lpstr>User query</vt:lpstr>
      <vt:lpstr>After executing the plan and interpreting the tool outputs reflect node checks if nothing actionable remains, then takes the not filtered: branch and finalizes. In that branch it conditionally calls _diagnose_tool_gap() and writes it into capability_gap</vt:lpstr>
      <vt:lpstr>_diagnose_tool_gap llm call prompt</vt:lpstr>
      <vt:lpstr>_diagnose_tool_gap function updates capability_gap state with the following</vt:lpstr>
      <vt:lpstr>capability_gap state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 SIANG LONG</dc:creator>
  <cp:lastModifiedBy>TAY SIANG LONG</cp:lastModifiedBy>
  <cp:revision>2</cp:revision>
  <dcterms:created xsi:type="dcterms:W3CDTF">2026-01-19T03:10:24Z</dcterms:created>
  <dcterms:modified xsi:type="dcterms:W3CDTF">2026-01-19T05:32:28Z</dcterms:modified>
</cp:coreProperties>
</file>